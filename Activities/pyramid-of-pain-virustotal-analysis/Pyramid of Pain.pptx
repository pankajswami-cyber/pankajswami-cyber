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Roboto"/>
      <p:regular r:id="rId8"/>
      <p:bold r:id="rId9"/>
      <p:italic r:id="rId10"/>
      <p:boldItalic r:id="rId11"/>
    </p:embeddedFont>
    <p:embeddedFont>
      <p:font typeface="Google Sans"/>
      <p:regular r:id="rId12"/>
      <p:bold r:id="rId13"/>
      <p:italic r:id="rId14"/>
      <p:boldItalic r:id="rId15"/>
    </p:embeddedFont>
    <p:embeddedFont>
      <p:font typeface="Roboto Mon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boldItalic.fntdata"/><Relationship Id="rId10" Type="http://schemas.openxmlformats.org/officeDocument/2006/relationships/font" Target="fonts/Roboto-italic.fntdata"/><Relationship Id="rId13" Type="http://schemas.openxmlformats.org/officeDocument/2006/relationships/font" Target="fonts/GoogleSans-bold.fntdata"/><Relationship Id="rId12" Type="http://schemas.openxmlformats.org/officeDocument/2006/relationships/font" Target="fonts/GoogleSa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oboto-bold.fntdata"/><Relationship Id="rId15" Type="http://schemas.openxmlformats.org/officeDocument/2006/relationships/font" Target="fonts/GoogleSans-boldItalic.fntdata"/><Relationship Id="rId14" Type="http://schemas.openxmlformats.org/officeDocument/2006/relationships/font" Target="fonts/GoogleSans-italic.fntdata"/><Relationship Id="rId17" Type="http://schemas.openxmlformats.org/officeDocument/2006/relationships/font" Target="fonts/RobotoMono-bold.fntdata"/><Relationship Id="rId16" Type="http://schemas.openxmlformats.org/officeDocument/2006/relationships/font" Target="fonts/RobotoMon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on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Mono-italic.fntdata"/><Relationship Id="rId7" Type="http://schemas.openxmlformats.org/officeDocument/2006/relationships/slide" Target="slides/slide2.xml"/><Relationship Id="rId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9419f719b3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9419f719b3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106924" y="-2048"/>
            <a:ext cx="7684800" cy="9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en" sz="179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File Maliciousness </a:t>
            </a:r>
            <a:endParaRPr b="1" sz="179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b="1" sz="179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r>
              <a:t/>
            </a:r>
            <a:endParaRPr b="1" sz="179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98775" y="289170"/>
            <a:ext cx="8986200" cy="53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file hash </a:t>
            </a:r>
            <a:r>
              <a:rPr b="1" lang="en">
                <a:solidFill>
                  <a:schemeClr val="dk1"/>
                </a:solidFill>
              </a:rPr>
              <a:t>54e6ea47eb04634d3e87fd7787e2136ccfbcc80ade34f246a12cf93bab527f6b</a:t>
            </a:r>
            <a:r>
              <a:rPr lang="en">
                <a:solidFill>
                  <a:schemeClr val="dk1"/>
                </a:solidFill>
              </a:rPr>
              <a:t> is </a:t>
            </a:r>
            <a:r>
              <a:rPr b="1" lang="en">
                <a:solidFill>
                  <a:schemeClr val="dk1"/>
                </a:solidFill>
              </a:rPr>
              <a:t>malicious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VirusTotal results show that more than 50 security vendors detected the file as malicious, with the activity materials reporting a </a:t>
            </a:r>
            <a:r>
              <a:rPr b="1" lang="en">
                <a:solidFill>
                  <a:schemeClr val="dk1"/>
                </a:solidFill>
              </a:rPr>
              <a:t>58/72 detection ratio</a:t>
            </a:r>
            <a:r>
              <a:rPr lang="en">
                <a:solidFill>
                  <a:schemeClr val="dk1"/>
                </a:solidFill>
              </a:rPr>
              <a:t>. Multiple vendors identified the malware as </a:t>
            </a:r>
            <a:r>
              <a:rPr b="1" lang="en">
                <a:solidFill>
                  <a:schemeClr val="dk1"/>
                </a:solidFill>
              </a:rPr>
              <a:t>Flagpro</a:t>
            </a:r>
            <a:r>
              <a:rPr lang="en">
                <a:solidFill>
                  <a:schemeClr val="dk1"/>
                </a:solidFill>
              </a:rPr>
              <a:t>, which is associated with the BlackTech malware family. These results, together with the negative community assessment described in the activity, provide consistent evidence that the file is malicious.</a:t>
            </a:r>
            <a:br>
              <a:rPr lang="en">
                <a:solidFill>
                  <a:srgbClr val="434343"/>
                </a:solidFill>
              </a:rPr>
            </a:br>
            <a:br>
              <a:rPr lang="en">
                <a:solidFill>
                  <a:srgbClr val="434343"/>
                </a:solidFill>
              </a:rPr>
            </a:br>
            <a:r>
              <a:rPr b="1" lang="en">
                <a:solidFill>
                  <a:schemeClr val="dk1"/>
                </a:solidFill>
              </a:rPr>
              <a:t>Three Indicators of Compromise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1. Hash value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MD5: </a:t>
            </a:r>
            <a:r>
              <a:rPr b="1" lang="en">
                <a:solidFill>
                  <a:schemeClr val="dk1"/>
                </a:solidFill>
              </a:rPr>
              <a:t>287d612e29b71c90aa54947313810a25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This hash is listed in the VirusTotal Details information as another identifier for the malware.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2. Domain name</a:t>
            </a:r>
            <a:br>
              <a:rPr b="1" lang="en">
                <a:solidFill>
                  <a:schemeClr val="dk1"/>
                </a:solidFill>
              </a:rPr>
            </a:br>
            <a:r>
              <a:rPr b="1" lang="en">
                <a:solidFill>
                  <a:schemeClr val="dk1"/>
                </a:solidFill>
              </a:rPr>
              <a:t>org.misecure.com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This domain was identified as a malicious contacted domain in the Relations information.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3. IP address</a:t>
            </a:r>
            <a:br>
              <a:rPr b="1" lang="en">
                <a:solidFill>
                  <a:schemeClr val="dk1"/>
                </a:solidFill>
              </a:rPr>
            </a:br>
            <a:r>
              <a:rPr b="1" lang="en">
                <a:solidFill>
                  <a:schemeClr val="dk1"/>
                </a:solidFill>
              </a:rPr>
              <a:t>207.148.109.242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This IP address is associated with the malicious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org.misecure.com</a:t>
            </a:r>
            <a:r>
              <a:rPr lang="en">
                <a:solidFill>
                  <a:schemeClr val="dk1"/>
                </a:solidFill>
              </a:rPr>
              <a:t> domain in the reported VirusTotal/sandbox analysis.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14"/>
          <p:cNvGrpSpPr/>
          <p:nvPr/>
        </p:nvGrpSpPr>
        <p:grpSpPr>
          <a:xfrm>
            <a:off x="52400" y="399200"/>
            <a:ext cx="5417400" cy="4685400"/>
            <a:chOff x="52400" y="399200"/>
            <a:chExt cx="5417400" cy="4685400"/>
          </a:xfrm>
        </p:grpSpPr>
        <p:sp>
          <p:nvSpPr>
            <p:cNvPr id="61" name="Google Shape;61;p14"/>
            <p:cNvSpPr/>
            <p:nvPr/>
          </p:nvSpPr>
          <p:spPr>
            <a:xfrm>
              <a:off x="52400" y="399200"/>
              <a:ext cx="5417400" cy="4685400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62" name="Google Shape;62;p14"/>
            <p:cNvCxnSpPr/>
            <p:nvPr/>
          </p:nvCxnSpPr>
          <p:spPr>
            <a:xfrm>
              <a:off x="2174888" y="1426450"/>
              <a:ext cx="1162500" cy="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" name="Google Shape;63;p14"/>
            <p:cNvCxnSpPr/>
            <p:nvPr/>
          </p:nvCxnSpPr>
          <p:spPr>
            <a:xfrm>
              <a:off x="1714500" y="2214625"/>
              <a:ext cx="2094000" cy="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" name="Google Shape;64;p14"/>
            <p:cNvCxnSpPr/>
            <p:nvPr/>
          </p:nvCxnSpPr>
          <p:spPr>
            <a:xfrm>
              <a:off x="1269525" y="2976625"/>
              <a:ext cx="2970900" cy="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" name="Google Shape;65;p14"/>
            <p:cNvCxnSpPr/>
            <p:nvPr/>
          </p:nvCxnSpPr>
          <p:spPr>
            <a:xfrm>
              <a:off x="903063" y="3665615"/>
              <a:ext cx="3729900" cy="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" name="Google Shape;66;p14"/>
            <p:cNvCxnSpPr/>
            <p:nvPr/>
          </p:nvCxnSpPr>
          <p:spPr>
            <a:xfrm>
              <a:off x="484250" y="4351425"/>
              <a:ext cx="4541700" cy="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7" name="Google Shape;67;p14"/>
          <p:cNvSpPr txBox="1"/>
          <p:nvPr/>
        </p:nvSpPr>
        <p:spPr>
          <a:xfrm>
            <a:off x="2424313" y="863775"/>
            <a:ext cx="805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TTPs</a:t>
            </a:r>
            <a:endParaRPr b="1"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2411226" y="1578950"/>
            <a:ext cx="805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Tools</a:t>
            </a:r>
            <a:endParaRPr b="1"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1792100" y="2294125"/>
            <a:ext cx="19914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Network/host artifacts</a:t>
            </a:r>
            <a:endParaRPr b="1"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1978962" y="3118675"/>
            <a:ext cx="2048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Domain names</a:t>
            </a:r>
            <a:endParaRPr b="1"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1978962" y="3755325"/>
            <a:ext cx="2048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IP addresses</a:t>
            </a:r>
            <a:endParaRPr b="1"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1978962" y="4457425"/>
            <a:ext cx="2048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Hash values</a:t>
            </a:r>
            <a:endParaRPr b="1"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73" name="Google Shape;73;p14"/>
          <p:cNvCxnSpPr/>
          <p:nvPr/>
        </p:nvCxnSpPr>
        <p:spPr>
          <a:xfrm>
            <a:off x="3153750" y="1086374"/>
            <a:ext cx="16947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p14"/>
          <p:cNvSpPr/>
          <p:nvPr/>
        </p:nvSpPr>
        <p:spPr>
          <a:xfrm>
            <a:off x="4848450" y="824324"/>
            <a:ext cx="20205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Command and Control</a:t>
            </a:r>
            <a:endParaRPr sz="11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75" name="Google Shape;75;p14"/>
          <p:cNvCxnSpPr>
            <a:endCxn id="76" idx="1"/>
          </p:cNvCxnSpPr>
          <p:nvPr/>
        </p:nvCxnSpPr>
        <p:spPr>
          <a:xfrm>
            <a:off x="3578825" y="1801549"/>
            <a:ext cx="16947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" name="Google Shape;76;p14"/>
          <p:cNvSpPr/>
          <p:nvPr/>
        </p:nvSpPr>
        <p:spPr>
          <a:xfrm>
            <a:off x="5273525" y="1539499"/>
            <a:ext cx="20205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Input capture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7" name="Google Shape;77;p14"/>
          <p:cNvCxnSpPr>
            <a:endCxn id="78" idx="1"/>
          </p:cNvCxnSpPr>
          <p:nvPr/>
        </p:nvCxnSpPr>
        <p:spPr>
          <a:xfrm>
            <a:off x="3986625" y="2571149"/>
            <a:ext cx="16947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14"/>
          <p:cNvSpPr/>
          <p:nvPr/>
        </p:nvSpPr>
        <p:spPr>
          <a:xfrm>
            <a:off x="5681325" y="2309099"/>
            <a:ext cx="20205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HTTP Requests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9" name="Google Shape;79;p14"/>
          <p:cNvCxnSpPr>
            <a:endCxn id="80" idx="1"/>
          </p:cNvCxnSpPr>
          <p:nvPr/>
        </p:nvCxnSpPr>
        <p:spPr>
          <a:xfrm>
            <a:off x="4426175" y="3274536"/>
            <a:ext cx="16947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" name="Google Shape;80;p14"/>
          <p:cNvSpPr/>
          <p:nvPr/>
        </p:nvSpPr>
        <p:spPr>
          <a:xfrm>
            <a:off x="6120875" y="3012486"/>
            <a:ext cx="20205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org.misecure.com 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1" name="Google Shape;81;p14"/>
          <p:cNvCxnSpPr>
            <a:endCxn id="82" idx="1"/>
          </p:cNvCxnSpPr>
          <p:nvPr/>
        </p:nvCxnSpPr>
        <p:spPr>
          <a:xfrm>
            <a:off x="4835525" y="3977924"/>
            <a:ext cx="16947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14"/>
          <p:cNvSpPr/>
          <p:nvPr/>
        </p:nvSpPr>
        <p:spPr>
          <a:xfrm>
            <a:off x="6530225" y="3715874"/>
            <a:ext cx="20205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207.148.109.242 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3" name="Google Shape;83;p14"/>
          <p:cNvCxnSpPr/>
          <p:nvPr/>
        </p:nvCxnSpPr>
        <p:spPr>
          <a:xfrm>
            <a:off x="5211175" y="4680024"/>
            <a:ext cx="16053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" name="Google Shape;84;p14"/>
          <p:cNvSpPr/>
          <p:nvPr/>
        </p:nvSpPr>
        <p:spPr>
          <a:xfrm>
            <a:off x="6816475" y="4417974"/>
            <a:ext cx="20205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287d612e29b71c90aa54947313810a25 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